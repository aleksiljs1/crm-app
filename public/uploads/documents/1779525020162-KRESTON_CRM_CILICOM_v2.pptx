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kreston_logo.jpeg"/><Relationship Id="rId3" Type="http://schemas.openxmlformats.org/officeDocument/2006/relationships/image" Target="../media/cilicom_logo.jpe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email_before.jpeg"/><Relationship Id="rId3" Type="http://schemas.openxmlformats.org/officeDocument/2006/relationships/image" Target="../media/email_after.jpe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 xmlns:r="http://schemas.openxmlformats.org/officeDocument/2006/relationships">
        <p:nvPicPr>
          <p:cNvPr id="200" name="Kreston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0000"/>
            <a:ext cx="2700000" cy="1286300"/>
          </a:xfrm>
          <a:prstGeom prst="rect">
            <a:avLst/>
          </a:prstGeom>
        </p:spPr>
      </p:pic>
      <p:sp>
        <p:nvSpPr>
          <p:cNvPr id="101" name="CilicomLabel"/>
          <p:cNvSpPr txBox="1"/>
          <p:nvPr/>
        </p:nvSpPr>
        <p:spPr>
          <a:xfrm>
            <a:off x="10000000" y="260000"/>
            <a:ext cx="173449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080"/>
                </a:solidFill>
                <a:latin typeface="Calibri"/>
              </a:defRPr>
            </a:pPr>
            <a:r>
              <a:rPr lang="en-US" sz="900" b="0" spc="200">
                <a:solidFill>
                  <a:srgbClr val="6B7080"/>
                </a:solidFill>
                <a:latin typeface="Calibri"/>
              </a:rPr>
              <a:t>PRESENTED BY</a:t>
            </a:r>
          </a:p>
        </p:txBody>
      </p:sp>
      <p:pic xmlns:r="http://schemas.openxmlformats.org/officeDocument/2006/relationships">
        <p:nvPicPr>
          <p:cNvPr id="201" name="Cilicom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000" y="530000"/>
            <a:ext cx="1334495" cy="133449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50000" y="700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080"/>
                </a:solidFill>
                <a:latin typeface="Calibri"/>
              </a:defRPr>
            </a:pPr>
            <a:r>
              <a:t>TechTrek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Professional services firms are</a:t>
            </a:r>
            <a:br/>
            <a:r>
              <a:t>drowning in disconnected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3474720" cy="10972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Disconnected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80"/>
                </a:solidFill>
                <a:latin typeface="Calibri"/>
              </a:defRPr>
            </a:pPr>
            <a:r>
              <a:t>Each dept uses different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657600"/>
            <a:ext cx="3474720" cy="10972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Manual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80"/>
                </a:solidFill>
                <a:latin typeface="Calibri"/>
              </a:defRPr>
            </a:pPr>
            <a:r>
              <a:t>Copy-paste between Excel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474720" cy="10972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Fragmented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80"/>
                </a:solidFill>
                <a:latin typeface="Calibri"/>
              </a:defRPr>
            </a:pPr>
            <a:r>
              <a:t>Info in emails, Teams, sticky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3474720" cy="10972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No Real-Time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80"/>
                </a:solidFill>
                <a:latin typeface="Calibri"/>
              </a:defRPr>
            </a:pPr>
            <a:r>
              <a:t>Managers fly blind until monthly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5029200"/>
            <a:ext cx="3474720" cy="10972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Inconsistent Client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5577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80"/>
                </a:solidFill>
                <a:latin typeface="Calibri"/>
              </a:defRPr>
            </a:pPr>
            <a:r>
              <a:t>Service quality depends on who handles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029200"/>
            <a:ext cx="3474720" cy="10972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Limited Strategic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577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80"/>
                </a:solidFill>
                <a:latin typeface="Calibri"/>
              </a:defRPr>
            </a:pPr>
            <a:r>
              <a:t>No data-driven decisions possible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One AI-Powered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080"/>
                </a:solidFill>
                <a:latin typeface="Calibri"/>
              </a:defRPr>
            </a:pPr>
            <a:r>
              <a:t>That connects every department, every client, every task, every document.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A"/>
                </a:solidFill>
                <a:latin typeface="Calibri"/>
              </a:defRPr>
            </a:pPr>
            <a:r>
              <a:t>Email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SMTP • IMAP • AI Sort • AI Reply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2880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1828800"/>
            <a:ext cx="22860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A"/>
                </a:solidFill>
                <a:latin typeface="Calibri"/>
              </a:defRPr>
            </a:pPr>
            <a:r>
              <a:t>Task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Kanban • Review Flow • Auto-Assign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82880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1828800"/>
            <a:ext cx="22860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A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AI Q&amp;A • Simplify •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22860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A"/>
                </a:solidFill>
                <a:latin typeface="Calibri"/>
              </a:defRPr>
            </a:pPr>
            <a:r>
              <a:t>Legal Processes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Templates • Client Portal •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2860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A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Real-Time • Socket.io • File Sharing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365760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0" y="3657600"/>
            <a:ext cx="22860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A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AI Reports • Scoring • Team Analytics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365760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3657600"/>
            <a:ext cx="22860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A"/>
                </a:solidFill>
                <a:latin typeface="Calibri"/>
              </a:defRPr>
            </a:pPr>
            <a:r>
              <a:t>Client Portal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Doc Upload • AI Chat • Progress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65760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657600"/>
            <a:ext cx="228600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A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Real-Time • Bell • Task Alerts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669280"/>
            <a:ext cx="9966960" cy="73152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760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 AI Features  •  8 Departments  •  33 Users  •  Role-Based Access  •  Real-Time Everything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0" name="BeforeLabel"/>
          <p:cNvSpPr txBox="1"/>
          <p:nvPr/>
        </p:nvSpPr>
        <p:spPr>
          <a:xfrm>
            <a:off x="500000" y="1371600"/>
            <a:ext cx="3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080"/>
                </a:solidFill>
                <a:latin typeface="Calibri"/>
              </a:defRPr>
            </a:pPr>
            <a:r>
              <a:rPr lang="en-US" sz="1100" b="1" spc="150">
                <a:solidFill>
                  <a:srgbClr val="6B7080"/>
                </a:solidFill>
                <a:latin typeface="Calibri"/>
              </a:rPr>
              <a:t>BEFORE</a:t>
            </a:r>
          </a:p>
        </p:txBody>
      </p:sp>
      <p:sp>
        <p:nvSpPr>
          <p:cNvPr id="301" name="AfterLabel"/>
          <p:cNvSpPr txBox="1"/>
          <p:nvPr/>
        </p:nvSpPr>
        <p:spPr>
          <a:xfrm>
            <a:off x="3780000" y="1371600"/>
            <a:ext cx="32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8A"/>
                </a:solidFill>
                <a:latin typeface="Calibri"/>
              </a:defRPr>
            </a:pPr>
            <a:r>
              <a:rPr lang="en-US" sz="1100" b="1" spc="150">
                <a:solidFill>
                  <a:srgbClr val="00968A"/>
                </a:solidFill>
                <a:latin typeface="Calibri"/>
              </a:rPr>
              <a:t>AFTER (AI Enhanced)</a:t>
            </a:r>
          </a:p>
        </p:txBody>
      </p:sp>
      <p:pic xmlns:r="http://schemas.openxmlformats.org/officeDocument/2006/relationships">
        <p:nvPicPr>
          <p:cNvPr id="302" name="EmailBef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680000"/>
            <a:ext cx="3200000" cy="1592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 xmlns:r="http://schemas.openxmlformats.org/officeDocument/2006/relationships">
        <p:nvPicPr>
          <p:cNvPr id="303" name="EmailAf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000" y="1680000"/>
            <a:ext cx="3200000" cy="1462000"/>
          </a:xfrm>
          <a:prstGeom prst="rect">
            <a:avLst/>
          </a:prstGeom>
          <a:ln w="12700">
            <a:solidFill>
              <a:srgbClr val="00968A"/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Email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Centralized inbox • AI prioritization • Smart reply • Department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6304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A"/>
                </a:solidFill>
                <a:latin typeface="Calibri"/>
              </a:defRPr>
            </a:pPr>
            <a:r>
              <a:t>Gmail IMAP Polling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New emails appear in 10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10312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4883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A"/>
                </a:solidFill>
                <a:latin typeface="Calibri"/>
              </a:defRPr>
            </a:pPr>
            <a:r>
              <a:t>AI Sort by Importance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3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One click - AI orders all unread emails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74320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7889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A"/>
                </a:solidFill>
                <a:latin typeface="Calibri"/>
              </a:defRPr>
            </a:pPr>
            <a:r>
              <a:t>AI Enhance Reply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Type lazy draft → professional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383279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2899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A"/>
                </a:solidFill>
                <a:latin typeface="Calibri"/>
              </a:defRPr>
            </a:pPr>
            <a:r>
              <a:t>Smart Dept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65759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Keywords auto-route to correct dept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02336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0690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A"/>
                </a:solidFill>
                <a:latin typeface="Calibri"/>
              </a:defRPr>
            </a:pPr>
            <a:r>
              <a:t>Attachments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2976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PDF, Word, Excel - send and receive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66344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70915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A"/>
                </a:solidFill>
                <a:latin typeface="Calibri"/>
              </a:defRPr>
            </a:pPr>
            <a:r>
              <a:t>Search &amp; Pagination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93775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Find any email instantly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Task Workflow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TODO → In Progress → Review → Approved → Completed  |  Role-based permissions at every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858000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800"/>
              </a:spcBef>
              <a:defRPr sz="1400" b="1">
                <a:solidFill>
                  <a:srgbClr val="6B7080"/>
                </a:solidFill>
              </a:defRPr>
            </a:pPr>
            <a:r>
              <a:t>📸 SCREENSHOT: Task Kanban board with all 5 columns, cards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6304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AI Task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AI picks best person based on workload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10312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4883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Review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3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Auto-unassign → manager assigns reviewer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74320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7889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Auto-Assign Timer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Configurable per-dept (4h-168h)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383279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2899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Status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65759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Every transition logged with timestamps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02336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0690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Role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2976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Junior: work only. Manager: approve.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66344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70915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File Attachments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93775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080"/>
                </a:solidFill>
                <a:latin typeface="Calibri"/>
              </a:defRPr>
            </a:pPr>
            <a:r>
              <a:t>PDF/Word/Excel on every task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Legal Processes &amp; 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Manager defines process → Client uploads docs → AI validates → Team produces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 b="1">
                <a:solidFill>
                  <a:srgbClr val="6B7080"/>
                </a:solidFill>
              </a:defRPr>
            </a:pPr>
            <a:r>
              <a:t>📸 SCREENSHOT: Process creation with template loaded, docs listed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 b="1">
                <a:solidFill>
                  <a:srgbClr val="6B7080"/>
                </a:solidFill>
              </a:defRPr>
            </a:pPr>
            <a:r>
              <a:t>📸 SCREENSHOT: Client portal - process with upload, AI check button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1247120" cy="54864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2011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Create Process</a:t>
            </a:r>
            <a:br/>
            <a:r>
              <a:t>from Template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206240"/>
            <a:ext cx="2011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429768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297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Attach Client</a:t>
            </a:r>
            <a:br/>
            <a:r>
              <a:t>&amp; Required 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206240"/>
            <a:ext cx="2011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20640" y="429768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297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Client Uploads</a:t>
            </a:r>
            <a:br/>
            <a:r>
              <a:t>Documents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4206240"/>
            <a:ext cx="2011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06640" y="429768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97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AI Validates</a:t>
            </a:r>
            <a:br/>
            <a:r>
              <a:t>&amp; Matches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206240"/>
            <a:ext cx="2011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0" y="42976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4315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297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Team Produces</a:t>
            </a:r>
            <a:br/>
            <a:r>
              <a:t>Deliverables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8 AI Implementations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68A"/>
                </a:solidFill>
                <a:latin typeface="Calibri"/>
              </a:defRPr>
            </a:pPr>
            <a:r>
              <a:t>Powered by Google Gemini 2.5 Flash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21031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783080"/>
            <a:ext cx="411480" cy="411480"/>
          </a:xfrm>
          <a:prstGeom prst="ellipse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01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Smart Email Sorting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80"/>
                </a:solidFill>
                <a:latin typeface="Calibri"/>
              </a:defRPr>
            </a:pPr>
            <a:r>
              <a:t>Reads &amp; ranks all unread</a:t>
            </a:r>
            <a:br/>
            <a:r>
              <a:t>by urgency automatically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651760" cy="21031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17830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01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Reply Enhancement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80"/>
                </a:solidFill>
                <a:latin typeface="Calibri"/>
              </a:defRPr>
            </a:pPr>
            <a:r>
              <a:t>Lazy draft → professional</a:t>
            </a:r>
            <a:br/>
            <a:r>
              <a:t>client-facing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651760" cy="21031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17830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01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Task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80"/>
                </a:solidFill>
                <a:latin typeface="Calibri"/>
              </a:defRPr>
            </a:pPr>
            <a:r>
              <a:t>Analyzes workload, picks</a:t>
            </a:r>
            <a:br/>
            <a:r>
              <a:t>best person for the job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45920"/>
            <a:ext cx="2651760" cy="21031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5440" y="17830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801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Performance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377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80"/>
                </a:solidFill>
                <a:latin typeface="Calibri"/>
              </a:defRPr>
            </a:pPr>
            <a:r>
              <a:t>Scores team daily/weekly/</a:t>
            </a:r>
            <a:br/>
            <a:r>
              <a:t>monthly with manager tips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2651760" cy="21031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425196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702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Document Simplifier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80"/>
                </a:solidFill>
                <a:latin typeface="Calibri"/>
              </a:defRPr>
            </a:pPr>
            <a:r>
              <a:t>Reads PDF/Word/Excel,</a:t>
            </a:r>
            <a:br/>
            <a:r>
              <a:t>gives key points in seconds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114800"/>
            <a:ext cx="2651760" cy="21031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74720" y="425196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2702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Document Q&amp;A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80"/>
                </a:solidFill>
                <a:latin typeface="Calibri"/>
              </a:defRPr>
            </a:pPr>
            <a:r>
              <a:t>Ask any question about</a:t>
            </a:r>
            <a:br/>
            <a:r>
              <a:t>a document, AI answers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114800"/>
            <a:ext cx="2651760" cy="21031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55080" y="425196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2702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Client Doc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80"/>
                </a:solidFill>
                <a:latin typeface="Calibri"/>
              </a:defRPr>
            </a:pPr>
            <a:r>
              <a:t>AI matches uploads to</a:t>
            </a:r>
            <a:br/>
            <a:r>
              <a:t>requirements automatically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4114800"/>
            <a:ext cx="2651760" cy="21031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35440" y="425196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2702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Client Document Chat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59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80"/>
                </a:solidFill>
                <a:latin typeface="Calibri"/>
              </a:defRPr>
            </a:pPr>
            <a:r>
              <a:t>Back-and-forth guidance</a:t>
            </a:r>
            <a:br/>
            <a:r>
              <a:t>on what to submit &amp; how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41908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968A"/>
                </a:solidFill>
                <a:latin typeface="Calibri"/>
              </a:defRPr>
            </a:pPr>
            <a:r>
              <a:t>+ Auto-assign reviewers on timeout  •  AI self-coaching for employees  •  Smart email dept routing  •  PDF first-page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Performance &amp; Team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0"/>
                </a:solidFill>
                <a:latin typeface="Calibri"/>
              </a:defRPr>
            </a:pPr>
            <a:r>
              <a:t>AI-powered insights  •  Department-scoped  •  Historical reports  •  Employee self-view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 b="1">
                <a:solidFill>
                  <a:srgbClr val="6B7080"/>
                </a:solidFill>
              </a:defRPr>
            </a:pPr>
            <a:r>
              <a:t>📸 SCREENSHOT: Manager dashboard with KPIs, charts, department workload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 b="1">
                <a:solidFill>
                  <a:srgbClr val="6B7080"/>
                </a:solidFill>
              </a:defRPr>
            </a:pPr>
            <a:r>
              <a:t>📸 SCREENSHOT: AI Performance Report - employee scores with tips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365760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 b="1">
                <a:solidFill>
                  <a:srgbClr val="6B7080"/>
                </a:solidFill>
              </a:defRPr>
            </a:pPr>
            <a:r>
              <a:t>📸 SCREENSHOT: Team page - member cards with task history expanded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65760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 b="1">
                <a:solidFill>
                  <a:srgbClr val="6B7080"/>
                </a:solidFill>
              </a:defRPr>
            </a:pPr>
            <a:r>
              <a:t>📸 SCREENSHOT: Employee self-performance - score circle with AI coach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931920"/>
            <a:ext cx="3657600" cy="2286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 b="1">
                <a:solidFill>
                  <a:srgbClr val="6B7080"/>
                </a:solidFill>
              </a:defRPr>
            </a:pPr>
            <a:r>
              <a:t>📸 SCREENSHOT: Client pipeline kanban - Lead/Active/Inactive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548640"/>
          </a:xfrm>
          <a:prstGeom prst="roundRect">
            <a:avLst/>
          </a:prstGeom>
          <a:solidFill>
            <a:srgbClr val="3D1F1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  <a:latin typeface="Calibri"/>
              </a:defRPr>
            </a:pPr>
            <a:r>
              <a:t>✗  Emails scattered across personal inboxes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548640"/>
          </a:xfrm>
          <a:prstGeom prst="roundRect">
            <a:avLst/>
          </a:prstGeom>
          <a:solidFill>
            <a:srgbClr val="1F3D2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38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FCC5"/>
                </a:solidFill>
                <a:latin typeface="Calibri"/>
              </a:defRPr>
            </a:pPr>
            <a:r>
              <a:t>✓  Centralized inbox with AI prioritization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5029200" cy="548640"/>
          </a:xfrm>
          <a:prstGeom prst="roundRect">
            <a:avLst/>
          </a:prstGeom>
          <a:solidFill>
            <a:srgbClr val="3D1F1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  <a:latin typeface="Calibri"/>
              </a:defRPr>
            </a:pPr>
            <a:r>
              <a:t>✗  Tasks tracked in Excel spreadsheets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5029200" cy="548640"/>
          </a:xfrm>
          <a:prstGeom prst="roundRect">
            <a:avLst/>
          </a:prstGeom>
          <a:solidFill>
            <a:srgbClr val="1F3D2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243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FCC5"/>
                </a:solidFill>
                <a:latin typeface="Calibri"/>
              </a:defRPr>
            </a:pPr>
            <a:r>
              <a:t>✓  Kanban workflow with full audit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5029200" cy="548640"/>
          </a:xfrm>
          <a:prstGeom prst="roundRect">
            <a:avLst/>
          </a:prstGeom>
          <a:solidFill>
            <a:srgbClr val="3D1F1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101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  <a:latin typeface="Calibri"/>
              </a:defRPr>
            </a:pPr>
            <a:r>
              <a:t>✗  Performance reviews based on gut feeling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00400"/>
            <a:ext cx="5029200" cy="548640"/>
          </a:xfrm>
          <a:prstGeom prst="roundRect">
            <a:avLst/>
          </a:prstGeom>
          <a:solidFill>
            <a:srgbClr val="1F3D2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3101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FCC5"/>
                </a:solidFill>
                <a:latin typeface="Calibri"/>
              </a:defRPr>
            </a:pPr>
            <a:r>
              <a:t>✓  AI scores with data-backed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5029200" cy="548640"/>
          </a:xfrm>
          <a:prstGeom prst="roundRect">
            <a:avLst/>
          </a:prstGeom>
          <a:solidFill>
            <a:srgbClr val="3D1F1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959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  <a:latin typeface="Calibri"/>
              </a:defRPr>
            </a:pPr>
            <a:r>
              <a:t>✗  Clients wait weeks for document feedback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86200"/>
            <a:ext cx="5029200" cy="548640"/>
          </a:xfrm>
          <a:prstGeom prst="roundRect">
            <a:avLst/>
          </a:prstGeom>
          <a:solidFill>
            <a:srgbClr val="1F3D2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9959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FCC5"/>
                </a:solidFill>
                <a:latin typeface="Calibri"/>
              </a:defRPr>
            </a:pPr>
            <a:r>
              <a:t>✓  AI validates documents in seconds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5029200" cy="548640"/>
          </a:xfrm>
          <a:prstGeom prst="roundRect">
            <a:avLst/>
          </a:prstGeom>
          <a:solidFill>
            <a:srgbClr val="3D1F1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  <a:latin typeface="Calibri"/>
              </a:defRPr>
            </a:pPr>
            <a:r>
              <a:t>✗  Managers ask around to know what's happening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572000"/>
            <a:ext cx="5029200" cy="548640"/>
          </a:xfrm>
          <a:prstGeom prst="roundRect">
            <a:avLst/>
          </a:prstGeom>
          <a:solidFill>
            <a:srgbClr val="1F3D2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6817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FCC5"/>
                </a:solidFill>
                <a:latin typeface="Calibri"/>
              </a:defRPr>
            </a:pPr>
            <a:r>
              <a:t>✓  Real-time dashboards and notifications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57800"/>
            <a:ext cx="5029200" cy="548640"/>
          </a:xfrm>
          <a:prstGeom prst="roundRect">
            <a:avLst/>
          </a:prstGeom>
          <a:solidFill>
            <a:srgbClr val="3D1F1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67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  <a:latin typeface="Calibri"/>
              </a:defRPr>
            </a:pPr>
            <a:r>
              <a:t>✗  Legal processes on paper templates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257800"/>
            <a:ext cx="5029200" cy="548640"/>
          </a:xfrm>
          <a:prstGeom prst="roundRect">
            <a:avLst/>
          </a:prstGeom>
          <a:solidFill>
            <a:srgbClr val="1F3D2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367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FCC5"/>
                </a:solidFill>
                <a:latin typeface="Calibri"/>
              </a:defRPr>
            </a:pPr>
            <a:r>
              <a:t>✓  Digital processes with client portal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0807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"What if the system didn't just track work,</a:t>
            </a:r>
            <a:br/>
            <a:r>
              <a:t>but actually knew how to make your firm better?"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